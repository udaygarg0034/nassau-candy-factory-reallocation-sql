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D3D3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3D3D3A"/>
                </a:solidFill>
                <a:latin typeface="Arial"/>
              </a:rPr>
              <a:t>Ship-Date Gap Clusters (days)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 count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D3D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908 d</c:v>
                  </c:pt>
                  <c:pt idx="1">
                    <c:v>1,273 d</c:v>
                  </c:pt>
                  <c:pt idx="2">
                    <c:v>1,639 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565</c:v>
                </c:pt>
                <c:pt idx="1">
                  <c:v>1300</c:v>
                </c:pt>
                <c:pt idx="2">
                  <c:v>870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D3D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A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D3D3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3D3D3A"/>
                </a:solidFill>
                <a:latin typeface="Arial"/>
              </a:rPr>
              <a:t>Sales by Factory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($)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D3D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Lot's O'
Nuts</c:v>
                  </c:pt>
                  <c:pt idx="1">
                    <c:v>Wicked
Choccy's</c:v>
                  </c:pt>
                  <c:pt idx="2">
                    <c:v>Secret
Factory</c:v>
                  </c:pt>
                  <c:pt idx="3">
                    <c:v>The Other
Factory</c:v>
                  </c:pt>
                  <c:pt idx="4">
                    <c:v>Sugar
Shack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74935</c:v>
                </c:pt>
                <c:pt idx="1">
                  <c:v>54084</c:v>
                </c:pt>
                <c:pt idx="2">
                  <c:v>8307</c:v>
                </c:pt>
                <c:pt idx="3">
                  <c:v>1282</c:v>
                </c:pt>
                <c:pt idx="4">
                  <c:v>221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3D3D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D3D3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3D3D3A"/>
                </a:solidFill>
                <a:latin typeface="Arial"/>
              </a:rPr>
              <a:t>Sales by Region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90011"/>
              </a:solidFill>
              <a:effectLst/>
            </c:spPr>
          </c:dPt>
          <c:dPt>
            <c:idx val="1"/>
            <c:bubble3D val="0"/>
            <c:spPr>
              <a:solidFill>
                <a:srgbClr val="2F3C7E"/>
              </a:solidFill>
              <a:effectLst/>
            </c:spPr>
          </c:dPt>
          <c:dPt>
            <c:idx val="2"/>
            <c:bubble3D val="0"/>
            <c:spPr>
              <a:solidFill>
                <a:srgbClr val="C9A24B"/>
              </a:solidFill>
              <a:effectLst/>
            </c:spPr>
          </c:dPt>
          <c:dPt>
            <c:idx val="3"/>
            <c:bubble3D val="0"/>
            <c:spPr>
              <a:solidFill>
                <a:srgbClr val="EDEAE4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Pacific</c:v>
                </c:pt>
                <c:pt idx="1">
                  <c:v>Atlantic</c:v>
                </c:pt>
                <c:pt idx="2">
                  <c:v>Interior</c:v>
                </c:pt>
                <c:pt idx="3">
                  <c:v>Gulf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45451</c:v>
                </c:pt>
                <c:pt idx="1">
                  <c:v>39233</c:v>
                </c:pt>
                <c:pt idx="2">
                  <c:v>31899</c:v>
                </c:pt>
                <c:pt idx="3">
                  <c:v>22247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3D3D3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D3D3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3D3D3A"/>
                </a:solidFill>
                <a:latin typeface="Arial"/>
              </a:rPr>
              <a:t>Gross Margin % by Shipping Distance Band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Margin %</c:v>
                </c:pt>
              </c:strCache>
            </c:strRef>
          </c:tx>
          <c:spPr>
            <a:solidFill>
              <a:srgbClr val="990011"/>
            </a:solidFill>
            <a:ln w="38100" cap="flat">
              <a:solidFill>
                <a:srgbClr val="990011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990011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990011"/>
              </a:solidFill>
              <a:ln w="9525" cap="flat">
                <a:solidFill>
                  <a:srgbClr val="99001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0-500 mi</c:v>
                  </c:pt>
                  <c:pt idx="1">
                    <c:v>500-1000 mi</c:v>
                  </c:pt>
                  <c:pt idx="2">
                    <c:v>1000-1500 mi</c:v>
                  </c:pt>
                  <c:pt idx="3">
                    <c:v>1500+ mi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36.72</c:v>
                </c:pt>
                <c:pt idx="1">
                  <c:v>65.91</c:v>
                </c:pt>
                <c:pt idx="2">
                  <c:v>69.04</c:v>
                </c:pt>
                <c:pt idx="3">
                  <c:v>66.39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990011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AE4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00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C0009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828800"/>
            <a:ext cx="5486400" cy="5486400"/>
          </a:xfrm>
          <a:prstGeom prst="ellipse">
            <a:avLst/>
          </a:prstGeom>
          <a:solidFill>
            <a:srgbClr val="990011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572000"/>
            <a:ext cx="4572000" cy="4572000"/>
          </a:xfrm>
          <a:prstGeom prst="ellipse">
            <a:avLst/>
          </a:prstGeom>
          <a:solidFill>
            <a:srgbClr val="C9A24B">
              <a:alpha val="3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NASSAU CANDY DISTRIBUTOR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Factory Reallocation &amp; Shipping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Optimization Analytics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3434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 Decision-Intelligence Capstone — CTEs, Window Functions &amp; a Haversine-Based Recommendation Engine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074920"/>
            <a:ext cx="201168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Uday Garg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Program in Data Science &amp; Analytics · Imarticus Learning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Static Rules, No Visibility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6309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Nassau Candy assigns products to factories using static, legacy rules — with no system to simulate reassignment scenarios, quantify operational impact, or recommend optimal configurations before execution.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28016" cy="12801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313639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Suboptimal shipping distances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4728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aren't matched to their nearest viable factory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187952"/>
            <a:ext cx="128016" cy="12801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4032504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lead times in certain regions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3434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factory–region pairs consistently underperform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5084064"/>
            <a:ext cx="128016" cy="12801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4928616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erosion from logistics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23951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inefficiency quietly eats into profitability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60920" y="1600200"/>
            <a:ext cx="4160520" cy="4434840"/>
          </a:xfrm>
          <a:prstGeom prst="roundRect">
            <a:avLst>
              <a:gd name="adj" fmla="val 2637"/>
            </a:avLst>
          </a:prstGeom>
          <a:solidFill>
            <a:srgbClr val="FCF6F5"/>
          </a:solidFill>
          <a:ln/>
          <a:effectLst>
            <a:outerShdw sx="100000" sy="100000" kx="0" ky="0" algn="bl" rotWithShape="0" blurRad="101600" dist="38100" dir="5400000">
              <a:srgbClr val="998877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68096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21945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3D3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Move from descriptive reporting to prescriptive decision-making.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32461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001000" y="32461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shipping outcomes under different configurations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40233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001000" y="40233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which products should move factories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48006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001000" y="48006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shipping efficiency and profitability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Schema Built From Scratch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9,994 real order records + reference tables built manually from the business brief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99001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  ·  9,994 rows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2532888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DEAE4"/>
          </a:solidFill>
          <a:ln w="9525">
            <a:solidFill>
              <a:srgbClr val="99001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6974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row_id PK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8152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order_date, ship_date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465576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region, division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84962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cost, gross_profit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23367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estimated_lead_time_days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196596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99001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17720" y="201168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product_factory_map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228600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 ·  15 rows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34840" y="2532888"/>
            <a:ext cx="3520440" cy="1380744"/>
          </a:xfrm>
          <a:prstGeom prst="roundRect">
            <a:avLst>
              <a:gd name="adj" fmla="val 5298"/>
            </a:avLst>
          </a:prstGeom>
          <a:solidFill>
            <a:srgbClr val="EDEAE4"/>
          </a:solidFill>
          <a:ln w="9525">
            <a:solidFill>
              <a:srgbClr val="99001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17720" y="26974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product_name PK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308152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3465576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factory_name FK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63840" y="196596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99001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46720" y="201168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228600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 ·  5 rows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863840" y="2532888"/>
            <a:ext cx="3520440" cy="1380744"/>
          </a:xfrm>
          <a:prstGeom prst="roundRect">
            <a:avLst>
              <a:gd name="adj" fmla="val 5298"/>
            </a:avLst>
          </a:prstGeom>
          <a:solidFill>
            <a:srgbClr val="EDEAE4"/>
          </a:solidFill>
          <a:ln w="9525">
            <a:solidFill>
              <a:srgbClr val="99001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0" y="26974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factory_id PK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308152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factory_name UK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3465576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latitude, longitude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434840" y="48920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region_centroids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434840" y="5193792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regions (Interior, Atlantic, Gulf, Pacific) with approximate lat/long — powers the haversine distance calculation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" y="5989320"/>
            <a:ext cx="10744200" cy="548640"/>
          </a:xfrm>
          <a:prstGeom prst="roundRect">
            <a:avLst>
              <a:gd name="adj" fmla="val 13333"/>
            </a:avLst>
          </a:prstGeom>
          <a:solidFill>
            <a:srgbClr val="2F3C7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14400" y="59893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and product-to-factory mapping don't exist in the source CSV — built manually from the case study brief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INVESTIGATION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Catching a Broken Ship Date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Dates cluster in early 2024 — but Ship Dates sit 2.5 to 4.5 years later. A DATEDIFF gap-analysis exposed the pattern instead of trusting the field at face value.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743200"/>
          <a:ext cx="60350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995160" y="1554480"/>
            <a:ext cx="4526280" cy="4206240"/>
          </a:xfrm>
          <a:prstGeom prst="roundRect">
            <a:avLst>
              <a:gd name="adj" fmla="val 2609"/>
            </a:avLst>
          </a:prstGeom>
          <a:solidFill>
            <a:srgbClr val="3D3D3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269480" y="1783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269480" y="210312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Don't fabricate a fix. Model it instead.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269480" y="2971800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clustered ~365 days apart (908 / 1,273 / 1,639) — a systemic pattern, not scattered bad rows. Rather than force a correction that fabricates data, estimated_lead_time_days was modeled from: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7269480" y="406908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Ship-mode base days  +  distance/700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269480" y="452628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believable, ordered distribution — Same Day averaging 2.75 days up to Standard Class at 6.75 days.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the Revenue Actually Is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63640" y="160020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CF6F5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68680" y="521208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Lot's O' Nuts dominates: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$74,935 sales / $51,802 profit (69.1% margin), fueled by high Chocolate-division volume. 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Shack &amp; The Other Factory are under-utilized: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combined, under $1,600 in sales — a stark volume imbalance across the 5-factory network.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ANALYSIS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Assumption That Didn't Hold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study's premise: longer shipping distance erodes profit margin. The data says otherwise.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65960"/>
          <a:ext cx="73152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1965960"/>
            <a:ext cx="3291840" cy="3749040"/>
          </a:xfrm>
          <a:prstGeom prst="roundRect">
            <a:avLst>
              <a:gd name="adj" fmla="val 3333"/>
            </a:avLst>
          </a:prstGeom>
          <a:solidFill>
            <a:srgbClr val="5C000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503920" y="22402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36.7%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29260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on the SHORTEST routes — the lowest of any band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503920" y="3886200"/>
            <a:ext cx="2468880" cy="0"/>
          </a:xfrm>
          <a:prstGeom prst="line">
            <a:avLst/>
          </a:prstGeom>
          <a:noFill/>
          <a:ln w="12700">
            <a:solidFill>
              <a:srgbClr val="C9A24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03920" y="40233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69.0%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8503920" y="47091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on 1000-1500mi routes — the highest of any band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5943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reassignment decisions should prioritize lead-time gains, not assume a profitability upside from shorter routes.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 ENGINE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Simulation Built From Views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chained SQL views turn raw orders into ranked "move Product X to Factory Y" recommendations — no external ML library.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514600" cy="3931920"/>
          </a:xfrm>
          <a:prstGeom prst="roundRect">
            <a:avLst>
              <a:gd name="adj" fmla="val 3636"/>
            </a:avLst>
          </a:prstGeom>
          <a:solidFill>
            <a:srgbClr val="4A4A46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33172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971800"/>
            <a:ext cx="21122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9A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vw_factory_region_distance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977640"/>
            <a:ext cx="211226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formula (RADIANS/SIN/COS/ACOS) computes real distance between every factory and every region centroid.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91256" y="3913632"/>
            <a:ext cx="201168" cy="20116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136392" y="3831336"/>
            <a:ext cx="310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10712" y="2103120"/>
            <a:ext cx="2514600" cy="3931920"/>
          </a:xfrm>
          <a:prstGeom prst="roundRect">
            <a:avLst>
              <a:gd name="adj" fmla="val 3636"/>
            </a:avLst>
          </a:prstGeom>
          <a:solidFill>
            <a:srgbClr val="4A4A46"/>
          </a:solidFill>
          <a:ln/>
        </p:spPr>
      </p:sp>
      <p:sp>
        <p:nvSpPr>
          <p:cNvPr id="13" name="Shape 11"/>
          <p:cNvSpPr/>
          <p:nvPr/>
        </p:nvSpPr>
        <p:spPr>
          <a:xfrm>
            <a:off x="3611880" y="233172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1188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2971800"/>
            <a:ext cx="21122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9A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vw_ship_mode_base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3977640"/>
            <a:ext cx="211226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Calibrates a transparent lead-time baseline per ship mode directly from historical order data — auditable, not a black box.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61888" y="3913632"/>
            <a:ext cx="201168" cy="20116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07024" y="3831336"/>
            <a:ext cx="310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81344" y="2103120"/>
            <a:ext cx="2514600" cy="3931920"/>
          </a:xfrm>
          <a:prstGeom prst="roundRect">
            <a:avLst>
              <a:gd name="adj" fmla="val 3636"/>
            </a:avLst>
          </a:prstGeom>
          <a:solidFill>
            <a:srgbClr val="4A4A46"/>
          </a:solidFill>
          <a:ln/>
        </p:spPr>
      </p:sp>
      <p:sp>
        <p:nvSpPr>
          <p:cNvPr id="20" name="Shape 18"/>
          <p:cNvSpPr/>
          <p:nvPr/>
        </p:nvSpPr>
        <p:spPr>
          <a:xfrm>
            <a:off x="6382512" y="233172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82512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382512" y="2971800"/>
            <a:ext cx="21122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9A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vw_scenario_simulation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382512" y="3977640"/>
            <a:ext cx="211226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product, predicts lead time under EVERY candidate factory — not just its current one.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32520" y="3913632"/>
            <a:ext cx="201168" cy="20116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77656" y="3831336"/>
            <a:ext cx="310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951976" y="2103120"/>
            <a:ext cx="2514600" cy="3931920"/>
          </a:xfrm>
          <a:prstGeom prst="roundRect">
            <a:avLst>
              <a:gd name="adj" fmla="val 3636"/>
            </a:avLst>
          </a:prstGeom>
          <a:solidFill>
            <a:srgbClr val="4A4A46"/>
          </a:solidFill>
          <a:ln/>
        </p:spPr>
      </p:sp>
      <p:sp>
        <p:nvSpPr>
          <p:cNvPr id="27" name="Shape 25"/>
          <p:cNvSpPr/>
          <p:nvPr/>
        </p:nvSpPr>
        <p:spPr>
          <a:xfrm>
            <a:off x="9153144" y="233172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53144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9153144" y="2971800"/>
            <a:ext cx="21122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9A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vw_reassignment_recommendations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153144" y="3977640"/>
            <a:ext cx="211226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OVER (PARTITION BY product) ranks candidate factories by predicted lead-time improvement.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OUTPUT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3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Ranked Reassignment Recommendations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opportunities by predicted lead-time improvement (days) — filtered to candidate ≠ current factory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88136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651760"/>
                <a:gridCol w="265176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Product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Current Factory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Recommended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Improvement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3D3A"/>
                          </a:solidFill>
                        </a:rPr>
                        <a:t>Nerds</a:t>
                      </a:r>
                      <a:endParaRPr lang="en-US" sz="12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6B66"/>
                          </a:solidFill>
                        </a:rPr>
                        <a:t>Sugar Shack</a:t>
                      </a:r>
                      <a:endParaRPr lang="en-US" sz="12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</a:rPr>
                        <a:t>Wicked Choccy's</a:t>
                      </a:r>
                      <a:endParaRPr lang="en-US" sz="12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90011"/>
                          </a:solidFill>
                        </a:rPr>
                        <a:t>0.65 d</a:t>
                      </a:r>
                      <a:endParaRPr lang="en-US" sz="125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3D3A"/>
                          </a:solidFill>
                        </a:rPr>
                        <a:t>Fun Dip</a:t>
                      </a:r>
                      <a:endParaRPr lang="en-US" sz="12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6B66"/>
                          </a:solidFill>
                        </a:rPr>
                        <a:t>Sugar Shack</a:t>
                      </a:r>
                      <a:endParaRPr lang="en-US" sz="12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</a:rPr>
                        <a:t>Secret Factory</a:t>
                      </a:r>
                      <a:endParaRPr lang="en-US" sz="12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90011"/>
                          </a:solidFill>
                        </a:rPr>
                        <a:t>0.57 d</a:t>
                      </a:r>
                      <a:endParaRPr lang="en-US" sz="125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3D3A"/>
                          </a:solidFill>
                        </a:rPr>
                        <a:t>Wonka Bar - Fudge Mallows</a:t>
                      </a:r>
                      <a:endParaRPr lang="en-US" sz="12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6B66"/>
                          </a:solidFill>
                        </a:rPr>
                        <a:t>Lot's O' Nuts</a:t>
                      </a:r>
                      <a:endParaRPr lang="en-US" sz="12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</a:rPr>
                        <a:t>Secret Factory</a:t>
                      </a:r>
                      <a:endParaRPr lang="en-US" sz="12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90011"/>
                          </a:solidFill>
                        </a:rPr>
                        <a:t>0.54 d</a:t>
                      </a:r>
                      <a:endParaRPr lang="en-US" sz="125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3D3A"/>
                          </a:solidFill>
                        </a:rPr>
                        <a:t>Wonka Bar - Nutty Crunch Surprise</a:t>
                      </a:r>
                      <a:endParaRPr lang="en-US" sz="12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6B66"/>
                          </a:solidFill>
                        </a:rPr>
                        <a:t>Lot's O' Nuts</a:t>
                      </a:r>
                      <a:endParaRPr lang="en-US" sz="12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</a:rPr>
                        <a:t>Secret Factory</a:t>
                      </a:r>
                      <a:endParaRPr lang="en-US" sz="12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90011"/>
                          </a:solidFill>
                        </a:rPr>
                        <a:t>0.52 d</a:t>
                      </a:r>
                      <a:endParaRPr lang="en-US" sz="125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3D3A"/>
                          </a:solidFill>
                        </a:rPr>
                        <a:t>Wonka Bar - Scrumdiddlyumptious</a:t>
                      </a:r>
                      <a:endParaRPr lang="en-US" sz="12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6B66"/>
                          </a:solidFill>
                        </a:rPr>
                        <a:t>Lot's O' Nuts</a:t>
                      </a:r>
                      <a:endParaRPr lang="en-US" sz="12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</a:rPr>
                        <a:t>Secret Factory</a:t>
                      </a:r>
                      <a:endParaRPr lang="en-US" sz="12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90011"/>
                          </a:solidFill>
                        </a:rPr>
                        <a:t>0.50 d</a:t>
                      </a:r>
                      <a:endParaRPr lang="en-US" sz="125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3D3A"/>
                          </a:solidFill>
                        </a:rPr>
                        <a:t>Laffy Taffy</a:t>
                      </a:r>
                      <a:endParaRPr lang="en-US" sz="12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6B66"/>
                          </a:solidFill>
                        </a:rPr>
                        <a:t>Sugar Shack</a:t>
                      </a:r>
                      <a:endParaRPr lang="en-US" sz="12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</a:rPr>
                        <a:t>Secret Factory</a:t>
                      </a:r>
                      <a:endParaRPr lang="en-US" sz="12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90011"/>
                          </a:solidFill>
                        </a:rPr>
                        <a:t>0.47 d</a:t>
                      </a:r>
                      <a:endParaRPr lang="en-US" sz="125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3D3A"/>
                          </a:solidFill>
                        </a:rPr>
                        <a:t>Wonka Bar - Milk Chocolate</a:t>
                      </a:r>
                      <a:endParaRPr lang="en-US" sz="12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6B66"/>
                          </a:solidFill>
                        </a:rPr>
                        <a:t>Wicked Choccy's</a:t>
                      </a:r>
                      <a:endParaRPr lang="en-US" sz="12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</a:rPr>
                        <a:t>Secret Factory</a:t>
                      </a:r>
                      <a:endParaRPr lang="en-US" sz="12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90011"/>
                          </a:solidFill>
                        </a:rPr>
                        <a:t>0.47 d</a:t>
                      </a:r>
                      <a:endParaRPr lang="en-US" sz="125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80644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FCF6F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580644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Factory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most common target — 6 of 12 flagged recommendations point there, suggesting it's currently under-leveraged relative to its central position.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SCOPE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Skills Demonstrated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060704"/>
          </a:xfrm>
          <a:prstGeom prst="roundRect">
            <a:avLst>
              <a:gd name="adj" fmla="val 8621"/>
            </a:avLst>
          </a:prstGeom>
          <a:solidFill>
            <a:srgbClr val="EDEAE4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00200"/>
            <a:ext cx="82296" cy="1060704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70992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&amp; Schema Design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05740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primary/foreign keys, indexes built from a business brief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257800" cy="1060704"/>
          </a:xfrm>
          <a:prstGeom prst="roundRect">
            <a:avLst>
              <a:gd name="adj" fmla="val 8621"/>
            </a:avLst>
          </a:prstGeom>
          <a:solidFill>
            <a:srgbClr val="EDEAE4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1600200"/>
            <a:ext cx="82296" cy="1060704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170992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05740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logic for outlier detection and route diagnostics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843784"/>
            <a:ext cx="5257800" cy="1060704"/>
          </a:xfrm>
          <a:prstGeom prst="roundRect">
            <a:avLst>
              <a:gd name="adj" fmla="val 8621"/>
            </a:avLst>
          </a:prstGeom>
          <a:solidFill>
            <a:srgbClr val="EDEAE4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843784"/>
            <a:ext cx="82296" cy="1060704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295351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300984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OVER (PARTITION BY...) for per-product recommendations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2843784"/>
            <a:ext cx="5257800" cy="1060704"/>
          </a:xfrm>
          <a:prstGeom prst="roundRect">
            <a:avLst>
              <a:gd name="adj" fmla="val 8621"/>
            </a:avLst>
          </a:prstGeom>
          <a:solidFill>
            <a:srgbClr val="EDEAE4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2843784"/>
            <a:ext cx="82296" cy="1060704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0" y="295351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as a Modeling Layer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300984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chained views power the simulation engine — no external ML needed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087368"/>
            <a:ext cx="5257800" cy="1060704"/>
          </a:xfrm>
          <a:prstGeom prst="roundRect">
            <a:avLst>
              <a:gd name="adj" fmla="val 8621"/>
            </a:avLst>
          </a:prstGeom>
          <a:solidFill>
            <a:srgbClr val="EDEAE4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4087368"/>
            <a:ext cx="82296" cy="1060704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0120" y="4197096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Outlier Detection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454456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+ standard deviation thresholds computed in pure SQL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4087368"/>
            <a:ext cx="5257800" cy="1060704"/>
          </a:xfrm>
          <a:prstGeom prst="roundRect">
            <a:avLst>
              <a:gd name="adj" fmla="val 8621"/>
            </a:avLst>
          </a:prstGeom>
          <a:solidFill>
            <a:srgbClr val="EDEAE4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3640" y="4087368"/>
            <a:ext cx="82296" cy="1060704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83680" y="4197096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Geodistance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454456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factory-to-region distance via trigonometric SQL functions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5330952"/>
            <a:ext cx="5257800" cy="1060704"/>
          </a:xfrm>
          <a:prstGeom prst="roundRect">
            <a:avLst>
              <a:gd name="adj" fmla="val 8621"/>
            </a:avLst>
          </a:prstGeom>
          <a:solidFill>
            <a:srgbClr val="EDEAE4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5330952"/>
            <a:ext cx="82296" cy="1060704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0120" y="54406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Investigation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960120" y="5788152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and documented a systemic date-field anomaly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5330952"/>
            <a:ext cx="5257800" cy="1060704"/>
          </a:xfrm>
          <a:prstGeom prst="roundRect">
            <a:avLst>
              <a:gd name="adj" fmla="val 8621"/>
            </a:avLst>
          </a:prstGeom>
          <a:solidFill>
            <a:srgbClr val="EDEAE4"/>
          </a:solidFill>
          <a:ln/>
        </p:spPr>
      </p:sp>
      <p:sp>
        <p:nvSpPr>
          <p:cNvPr id="33" name="Shape 31"/>
          <p:cNvSpPr/>
          <p:nvPr/>
        </p:nvSpPr>
        <p:spPr>
          <a:xfrm>
            <a:off x="6263640" y="5330952"/>
            <a:ext cx="82296" cy="1060704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0" y="54406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KPI Design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6583680" y="5788152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%, lead-time improvement, and volume-weighted metrics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C00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990011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572000" cy="4572000"/>
          </a:xfrm>
          <a:prstGeom prst="ellipse">
            <a:avLst/>
          </a:prstGeom>
          <a:solidFill>
            <a:srgbClr val="C9A24B">
              <a:alpha val="2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REPOSITORY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Full SQL, Data &amp; Findings on GitHub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777240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32461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00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github.com/Udaygarg0034/nassau-candy-factory-reallocation-sql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416552"/>
            <a:ext cx="109728" cy="10972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427024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EDA, diagnostics &amp; recommendation engine — fully documented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4919472"/>
            <a:ext cx="109728" cy="10972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477316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investigation called out transparently, not hidden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5422392"/>
            <a:ext cx="109728" cy="10972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527608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backed by real query output, not assumptions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5989320"/>
            <a:ext cx="201168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Uday Garg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Program in Data Science &amp; Analytics · Imarticus Learning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2026-09-10T06:55:58Z</dcterms:created>
  <dcterms:modified xsi:type="dcterms:W3CDTF">2026-09-10T06:55:58Z</dcterms:modified>
</cp:coreProperties>
</file>