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Gap Between Order Date and Ship Date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orders</c:v>
                </c:pt>
              </c:strCache>
            </c:strRef>
          </c:tx>
          <c:spPr>
            <a:solidFill>
              <a:srgbClr val="8B1E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908 days</c:v>
                  </c:pt>
                  <c:pt idx="1">
                    <c:v>1,273 days</c:v>
                  </c:pt>
                  <c:pt idx="2">
                    <c:v>1,639 days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565</c:v>
                </c:pt>
                <c:pt idx="1">
                  <c:v>1300</c:v>
                </c:pt>
                <c:pt idx="2">
                  <c:v>870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Sales by Factory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8B1E2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Lot's O'
Nuts</c:v>
                  </c:pt>
                  <c:pt idx="1">
                    <c:v>Wicked
Choccy's</c:v>
                  </c:pt>
                  <c:pt idx="2">
                    <c:v>Secret
Factory</c:v>
                  </c:pt>
                  <c:pt idx="3">
                    <c:v>The Other
Factory</c:v>
                  </c:pt>
                  <c:pt idx="4">
                    <c:v>Sugar
Shack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74935</c:v>
                </c:pt>
                <c:pt idx="1">
                  <c:v>54084</c:v>
                </c:pt>
                <c:pt idx="2">
                  <c:v>8307</c:v>
                </c:pt>
                <c:pt idx="3">
                  <c:v>1282</c:v>
                </c:pt>
                <c:pt idx="4">
                  <c:v>221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Sales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22222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Pacific</c:v>
                  </c:pt>
                  <c:pt idx="1">
                    <c:v>Atlantic</c:v>
                  </c:pt>
                  <c:pt idx="2">
                    <c:v>Interior</c:v>
                  </c:pt>
                  <c:pt idx="3">
                    <c:v>Gulf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45451</c:v>
                </c:pt>
                <c:pt idx="1">
                  <c:v>39233</c:v>
                </c:pt>
                <c:pt idx="2">
                  <c:v>31899</c:v>
                </c:pt>
                <c:pt idx="3">
                  <c:v>22247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63240"/>
            <a:ext cx="12188952" cy="54864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CAPSTONE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Profitability &amp; Factory Performance Analysis Using SQL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852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Garg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6144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Program in Data Science &amp; Analytics | Imarticus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sells products across multiple regions, factories and product divisions, but the sales and profitability data is not organized in a structured way that can be easily analyzed.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takes a real 9,994-row order dataset, builds a proper relational database around it, and uses SQL to answer real business questions — which factories perform best, which regions generate the most sales, and where profitability is weakest.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520440" cy="1371600"/>
          </a:xfrm>
          <a:prstGeom prst="rect">
            <a:avLst/>
          </a:prstGeom>
          <a:solidFill>
            <a:srgbClr val="F4F1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real order records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3749040"/>
            <a:ext cx="3520440" cy="1371600"/>
          </a:xfrm>
          <a:prstGeom prst="rect">
            <a:avLst/>
          </a:prstGeom>
          <a:solidFill>
            <a:srgbClr val="F4F1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297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built in MySQL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3749040"/>
            <a:ext cx="3520440" cy="1371600"/>
          </a:xfrm>
          <a:prstGeom prst="rect">
            <a:avLst/>
          </a:prstGeom>
          <a:solidFill>
            <a:srgbClr val="F4F1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4297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business questions using SQL only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Used in This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2377440" cy="868680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63240" y="1600200"/>
            <a:ext cx="8595360" cy="868680"/>
          </a:xfrm>
          <a:prstGeom prst="rect">
            <a:avLst/>
          </a:prstGeom>
          <a:solidFill>
            <a:srgbClr val="F4F1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60020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 with 9,994 order records — sales, cost, profit, region, division, product, ship mode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2377440" cy="868680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51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63240" y="2651760"/>
            <a:ext cx="8595360" cy="868680"/>
          </a:xfrm>
          <a:prstGeom prst="rect">
            <a:avLst/>
          </a:prstGeom>
          <a:solidFill>
            <a:srgbClr val="F4F1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65176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factories with their names and locations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377440" cy="868680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033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product_factory_map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63240" y="3703320"/>
            <a:ext cx="8595360" cy="868680"/>
          </a:xfrm>
          <a:prstGeom prst="rect">
            <a:avLst/>
          </a:prstGeom>
          <a:solidFill>
            <a:srgbClr val="F4F1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370332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product is made in which factory (15 products)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2377440" cy="868680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754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63240" y="4754880"/>
            <a:ext cx="8595360" cy="868680"/>
          </a:xfrm>
          <a:prstGeom prst="rect">
            <a:avLst/>
          </a:prstGeom>
          <a:solidFill>
            <a:srgbClr val="F4F1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475488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city, state and country, pulled out of orders into its own table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orders.customer_id  →  customers.customer_id      |      product_factory_map.factory_name  →  factories.factory_name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Ship Date Field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analyzing lead time, the Order Date and Ship Date columns were compared using DATEDIFF.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9456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2194560"/>
            <a:ext cx="4434840" cy="3566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2423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83464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Order Date and Ship Date is 2.5 to 4.5 years — far too long to be a real shipping time. The gaps also repeat in clean patterns (about 365 days apart), which means the Ship Date column was not generated based on real shipping data.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4526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this, Ship Date was not used anywhere else in the analysis. This was checked and documented directly in the SQL file instead of being ignored.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Used in This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7335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5270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CREATE, ALTER, RENAME, DROP, TRUNCATE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30428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NOT NULL, UNIQUE, CHECK, FOREIGN KEY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308152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INSERT, UPDATE, DELETE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8587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with IN, BETWEEN, LIKE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8231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463600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functions, GROUP BY, HAVING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55955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54132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 types — INNER, LEFT, RIGHT, CROSS, SELF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167335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07992" y="15270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— correlated, non-correlated, EXISTS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245059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7992" y="230428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and UNION ALL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51960" y="322783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07992" y="308152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date and numeric functions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51960" y="400507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07992" y="38587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51960" y="478231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07992" y="463600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(WITH clause)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51960" y="555955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07992" y="54132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RANK, DENSE_RANK, LAG, NTILE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955280" y="167335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11312" y="15270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and temporary tables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955280" y="245059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11312" y="230428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955280" y="322783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11312" y="308152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955280" y="400507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11312" y="38587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function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955280" y="478231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11312" y="463600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55280" y="5559552"/>
            <a:ext cx="91440" cy="9144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11312" y="54132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— START TRANSACTION, ROLLBACK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Factory and Region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60020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17920" y="16002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solidFill>
            <a:srgbClr val="F4F1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56235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Lot's O' Nuts brings in the most sales ($74,935) while Sugar Shack and The Other Factory bring in very little ($221 and $1,282). Pacific is the strongest region and Gulf is the weakest.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Underperforming Routes with a CTE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CTE (Common Table Expression) was used to calculate the average profit margin for every factory-region pair, then compare it against the overall average and standard deviation.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0789920" cy="18288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route_stats AS 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factory_name, region, AVG(margin) AS avg_margin ...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AS 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AVG(margin) AS mean, STDDEV(margin) AS std ...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route_stats WHERE avg_margin &lt; mean - std;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just sorting a list and picking the lowest numbers by eye, this query finds factory-region pairs that are statistically below average — a more reliable way to spot real underperformers in the data.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45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heavily concentrated in one factory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11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Lot's O' Nuts alone accounts for the majority of total revenue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97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factories are almost unused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63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Factory and Sugar Shack together bring in under $1,600 in sales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749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Date could not be trusted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114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checked before use, found to be unreliable, and excluded — instead of being used blindly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800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covers the full range of SQL topics studied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166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SELECT statements to CTEs, window functions, stored procedures and triggers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7249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file, dataset and documentation available on GitHub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8B1E2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611880"/>
            <a:ext cx="7772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6118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1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github.com/Udaygarg0034/nassau-candy-factory-reallocation-sql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Garg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62362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Program in Data Science &amp; Analytics | Imarticus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2026-09-13T11:09:21Z</dcterms:created>
  <dcterms:modified xsi:type="dcterms:W3CDTF">2026-09-13T11:09:21Z</dcterms:modified>
</cp:coreProperties>
</file>